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F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express</c:v>
                  </c:pt>
                  <c:pt idx="1">
                    <c:v>cookie</c:v>
                  </c:pt>
                  <c:pt idx="2">
                    <c:v>serve-static</c:v>
                  </c:pt>
                  <c:pt idx="3">
                    <c:v>path-to-regexp</c:v>
                  </c:pt>
                  <c:pt idx="4">
                    <c:v>body-parser</c:v>
                  </c:pt>
                  <c:pt idx="5">
                    <c:v>send</c:v>
                  </c:pt>
                  <c:pt idx="6">
                    <c:v>qs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0.56</c:v>
                </c:pt>
                <c:pt idx="1">
                  <c:v>0.63</c:v>
                </c:pt>
                <c:pt idx="2">
                  <c:v>0.64</c:v>
                </c:pt>
                <c:pt idx="3">
                  <c:v>0.64</c:v>
                </c:pt>
                <c:pt idx="4">
                  <c:v>0.64</c:v>
                </c:pt>
                <c:pt idx="5">
                  <c:v>0.71</c:v>
                </c:pt>
                <c:pt idx="6">
                  <c:v>0.76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1F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7C3AED"/>
                </a:solidFill>
                <a:latin typeface="Arial"/>
              </a:defRPr>
            </a:pPr>
            <a:r>
              <a:rPr sz="900" b="0" i="0" u="none" strike="noStrike">
                <a:solidFill>
                  <a:srgbClr val="7C3AED"/>
                </a:solidFill>
                <a:latin typeface="Arial"/>
              </a:rPr>
              <a:t>Blast radius after quarantine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blast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F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Block body-parser</c:v>
                  </c:pt>
                  <c:pt idx="2">
                    <c:v>Block express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60.4</c:v>
                </c:pt>
                <c:pt idx="1">
                  <c:v>56.6</c:v>
                </c:pt>
                <c:pt idx="2">
                  <c:v>27.1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1F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4" y="91440"/>
            <a:ext cx="832104" cy="612648"/>
          </a:xfrm>
          <a:prstGeom prst="rect">
            <a:avLst/>
          </a:prstGeom>
        </p:spPr>
      </p:pic>
      <p:pic>
        <p:nvPicPr>
          <p:cNvPr id="3" name="Image 1" descr="ripple-light.png">    </p:cNvPr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5760720" y="1097280"/>
            <a:ext cx="3840480" cy="38404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70432" y="365760"/>
            <a:ext cx="679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0124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Manipal Hackathon 2026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RippleGuard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1719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ripple before it hits production.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65760" y="2103120"/>
            <a:ext cx="5852160" cy="2331720"/>
          </a:xfrm>
          <a:prstGeom prst="roundRect">
            <a:avLst>
              <a:gd name="adj" fmla="val 3922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1C7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Name: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1C7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Track: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1C7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Problem Statement: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 · Open Source Supply Chains: The Ripple Effect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1C7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Solution Title: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RippleGuard — explainable dependency risk &amp; ripple simulation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51C7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Team Members: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Girish Belagali · Thambichetty Shashank · M Harshavardan · Tejasvi M H · Varsha K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45262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4F1FB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8912" y="45720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38912" y="4572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13232" y="4526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 · Industry, Innovation &amp; Infrastructure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pple-light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766560" y="-1371600"/>
            <a:ext cx="3474720" cy="3474720"/>
          </a:xfrm>
          <a:prstGeom prst="rect">
            <a:avLst/>
          </a:prstGeom>
        </p:spPr>
      </p:pic>
      <p:pic>
        <p:nvPicPr>
          <p:cNvPr id="3" name="Image 1" descr="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91440"/>
            <a:ext cx="832104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10896" y="256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DEPENDENCY TREE IS THE ATTACK SURFACE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310896" y="448056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51C7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10896" y="4956048"/>
            <a:ext cx="8522208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10896" y="498348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SPECTRA  ·  RIPPLEGUARD  ·  MANIPAL HACKATHON 2026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98348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10896" y="1051560"/>
            <a:ext cx="4526280" cy="1691640"/>
          </a:xfrm>
          <a:prstGeom prst="roundRect">
            <a:avLst>
              <a:gd name="adj" fmla="val 5405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10972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454,600</a:t>
            </a:r>
            <a:endParaRPr lang="en-US" sz="60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193852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malicious open-source packages catalogued in 2025 — up 75% year on year. 99% of them live on npm.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487168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Sonatype · State of the Software Supply Chain 2026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0896" y="2788920"/>
            <a:ext cx="448056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10896" y="29077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$4.91M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10896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of one supply-chain compromise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310896" y="3840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2025</a:t>
            </a:r>
            <a:endParaRPr lang="en-US" sz="750" dirty="0"/>
          </a:p>
        </p:txBody>
      </p:sp>
      <p:sp>
        <p:nvSpPr>
          <p:cNvPr id="17" name="Text 13"/>
          <p:cNvSpPr txBox="1"/>
          <p:nvPr/>
        </p:nvSpPr>
        <p:spPr>
          <a:xfrm>
            <a:off x="1865376" y="29077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 days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1865376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identify and contain — the longest of any breach vector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1865376" y="3840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2025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3419856" y="29077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3419856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 packages pulled in by the average npm install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3419856" y="3840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Zimmermann et al.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310896" y="4114800"/>
            <a:ext cx="448056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10896" y="41879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Shai-Hulud, Sep 2025: </a:t>
            </a:r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self-replicating npm worm spread package to package through the same dependency edges nobody was watching.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5212080" y="11430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SCANNERS MISS IT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212080" y="148132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591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806440" y="1481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score packages one at a time.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806440" y="1755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CVSS number says how bad a bug is — never how much of your app sits on top of that package.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212080" y="2395728"/>
            <a:ext cx="356616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212080" y="253288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2642616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806440" y="25328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can't show the path.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806440" y="28072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get hit, through which chain, in what order? The graph is never modelled.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5212080" y="3447288"/>
            <a:ext cx="356616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212080" y="358444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369417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806440" y="3584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hide the reasoning.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5806440" y="38587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opaque score that blocks a build gets disabled by lunchtime. No reasons, no trust.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pple-light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766560" y="-1371600"/>
            <a:ext cx="3474720" cy="3474720"/>
          </a:xfrm>
          <a:prstGeom prst="rect">
            <a:avLst/>
          </a:prstGeom>
        </p:spPr>
      </p:pic>
      <p:pic>
        <p:nvPicPr>
          <p:cNvPr id="3" name="Image 1" descr="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91440"/>
            <a:ext cx="832104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10896" y="256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RIPPLEGUARD · MAP, SCORE, SIMULATE, EXPLAIN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310896" y="448056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51C7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Solution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10896" y="4956048"/>
            <a:ext cx="8522208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10896" y="498348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SPECTRA  ·  RIPPLEGUARD  ·  MANIPAL HACKATHON 2026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98348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74920" y="1371600"/>
            <a:ext cx="3749040" cy="3429000"/>
          </a:xfrm>
          <a:prstGeom prst="roundRect">
            <a:avLst>
              <a:gd name="adj" fmla="val 2667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10896" y="102412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RippleGuard models the ecosystem as a graph, scores every package with reasons, and simulates how a compromise ripples to production.</a:t>
            </a:r>
            <a:endParaRPr lang="en-US" sz="1150" dirty="0"/>
          </a:p>
        </p:txBody>
      </p:sp>
      <p:pic>
        <p:nvPicPr>
          <p:cNvPr id="11" name="Image 2" descr="graph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4663440" cy="33284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10896" y="47548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fixtures/demo-project · 49 packages · real RippleGuard scores · red = critical path</a:t>
            </a:r>
            <a:endParaRPr lang="en-US" sz="750" dirty="0"/>
          </a:p>
        </p:txBody>
      </p:sp>
      <p:sp>
        <p:nvSpPr>
          <p:cNvPr id="13" name="Shape 8"/>
          <p:cNvSpPr/>
          <p:nvPr/>
        </p:nvSpPr>
        <p:spPr>
          <a:xfrm>
            <a:off x="5230368" y="149047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524" y="1595628"/>
            <a:ext cx="210312" cy="210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79008" y="1463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779008" y="1755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package-lock.json → full graph with reverse “dependents” edges. Blast radius of any node is one traversal away.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230368" y="2240280"/>
            <a:ext cx="342900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230368" y="231343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524" y="2418588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779008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779008" y="2578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explainable factors — exposure, compromise signal, blast radius, evidence confidence — fed by live OSV.dev, EPSS and CVSS 3.1 data.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5230368" y="3063240"/>
            <a:ext cx="342900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230368" y="313639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5524" y="3241548"/>
            <a:ext cx="210312" cy="21031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779008" y="3108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779008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Time-step ripple from any package to the production root. Quarantine a node and get the before/after blast radius instantly.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230368" y="3886200"/>
            <a:ext cx="342900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230368" y="395935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5524" y="4064508"/>
            <a:ext cx="210312" cy="21031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779008" y="3931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5779008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ships with plain-English reasons, so developers fix instead of bypass.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pple-light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766560" y="-1371600"/>
            <a:ext cx="3474720" cy="3474720"/>
          </a:xfrm>
          <a:prstGeom prst="rect">
            <a:avLst/>
          </a:prstGeom>
        </p:spPr>
      </p:pic>
      <p:pic>
        <p:nvPicPr>
          <p:cNvPr id="3" name="Image 1" descr="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91440"/>
            <a:ext cx="832104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10896" y="256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RISK ENGINE · REAL OUTPUT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310896" y="448056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51C7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10896" y="4956048"/>
            <a:ext cx="8522208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10896" y="498348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SPECTRA  ·  RIPPLEGUARD  ·  MANIPAL HACKATHON 2026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98348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10896" y="3090672"/>
            <a:ext cx="8522208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63440" y="39776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11" name="Image 2" descr="arch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03920" cy="19842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10896" y="3154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10896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× EPSS × reachability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2093976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2414016" y="3154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414016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drift × mutability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4197096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4517136" y="3154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517136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reach × centrality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6300216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620256" y="3154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620256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on thin evidence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310896" y="3675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1 − e^(−risk)  ·  stays in 0–1, no hard clamp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10896" y="3950208"/>
            <a:ext cx="850392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graphicFrame>
        <p:nvGraphicFramePr>
          <p:cNvPr id="25" name="Chart 0" descr=""/>
          <p:cNvGraphicFramePr/>
          <p:nvPr/>
        </p:nvGraphicFramePr>
        <p:xfrm>
          <a:off x="274320" y="3950208"/>
          <a:ext cx="420624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 20"/>
          <p:cNvSpPr txBox="1"/>
          <p:nvPr/>
        </p:nvSpPr>
        <p:spPr>
          <a:xfrm>
            <a:off x="4800600" y="40416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SCORE?  ·  qs@6.7.0  ·  0.76 HIGH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4800600" y="42245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›"/>
            </a:pPr>
            <a:r>
              <a:rPr lang="en-US" sz="800" dirty="0">
                <a:solidFill>
                  <a:srgbClr val="1F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advisories incl. CVE-2026-82417, CVE-2025-15284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›"/>
            </a:pPr>
            <a:r>
              <a:rPr lang="en-US" sz="800" dirty="0">
                <a:solidFill>
                  <a:srgbClr val="1F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downstream dependents · transitive · reaches production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›"/>
            </a:pPr>
            <a:r>
              <a:rPr lang="en-US" sz="800" dirty="0">
                <a:solidFill>
                  <a:srgbClr val="1F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Sits at a central topological junction in the graph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›"/>
            </a:pPr>
            <a:r>
              <a:rPr lang="en-US" sz="800" dirty="0">
                <a:solidFill>
                  <a:srgbClr val="1F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confidence is high (0.95)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pple-light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766560" y="-1371600"/>
            <a:ext cx="3474720" cy="3474720"/>
          </a:xfrm>
          <a:prstGeom prst="rect">
            <a:avLst/>
          </a:prstGeom>
        </p:spPr>
      </p:pic>
      <p:pic>
        <p:nvPicPr>
          <p:cNvPr id="3" name="Image 1" descr="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91440"/>
            <a:ext cx="832104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10896" y="256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SIMULATION, MITIGATION AND WHAT IS ALREADY BUILT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310896" y="448056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51C7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Feasibility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10896" y="4956048"/>
            <a:ext cx="8522208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10896" y="498348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SPECTRA  ·  RIPPLEGUARD  ·  MANIPAL HACKATHON 2026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98348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700" dirty="0"/>
          </a:p>
        </p:txBody>
      </p:sp>
      <p:sp>
        <p:nvSpPr>
          <p:cNvPr id="9" name="Text 5"/>
          <p:cNvSpPr txBox="1"/>
          <p:nvPr/>
        </p:nvSpPr>
        <p:spPr>
          <a:xfrm>
            <a:off x="310896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tested and running end to end — the numbers below are live output from the tool.</a:t>
            </a:r>
            <a:endParaRPr lang="en-US" sz="1150" dirty="0"/>
          </a:p>
        </p:txBody>
      </p:sp>
      <p:pic>
        <p:nvPicPr>
          <p:cNvPr id="10" name="Image 2" descr="path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4754880" cy="24048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10896" y="3794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blast radius  </a:t>
            </a:r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60.4%</a:t>
            </a:r>
            <a:pPr indent="0" marL="0">
              <a:buNone/>
            </a:pPr>
            <a:r>
              <a:rPr lang="en-US" sz="10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critical path  </a:t>
            </a:r>
            <a:pPr indent="0" marL="0">
              <a:buNone/>
            </a:pPr>
            <a:r>
              <a:rPr lang="en-US" sz="10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→ express → demo-project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212080" y="1325880"/>
          <a:ext cx="35661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3035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−6.3%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5303520" y="3931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body-parser: qs still reaches the app via express</a:t>
            </a:r>
            <a:endParaRPr lang="en-US" sz="750" dirty="0"/>
          </a:p>
        </p:txBody>
      </p:sp>
      <p:sp>
        <p:nvSpPr>
          <p:cNvPr id="15" name="Text 9"/>
          <p:cNvSpPr txBox="1"/>
          <p:nvPr/>
        </p:nvSpPr>
        <p:spPr>
          <a:xfrm>
            <a:off x="71323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−55.1%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713232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express: production app no longer reached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310896" y="4315968"/>
            <a:ext cx="1609344" cy="566928"/>
          </a:xfrm>
          <a:prstGeom prst="roundRect">
            <a:avLst>
              <a:gd name="adj" fmla="val 16129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20624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" y="46451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2029968" y="4315968"/>
            <a:ext cx="1609344" cy="566928"/>
          </a:xfrm>
          <a:prstGeom prst="roundRect">
            <a:avLst>
              <a:gd name="adj" fmla="val 16129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2139696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~3.7k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2139696" y="46451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3749040" y="4315968"/>
            <a:ext cx="1609344" cy="566928"/>
          </a:xfrm>
          <a:prstGeom prst="roundRect">
            <a:avLst>
              <a:gd name="adj" fmla="val 16129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3858768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3858768" y="46451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 + SSE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5468112" y="4315968"/>
            <a:ext cx="1609344" cy="566928"/>
          </a:xfrm>
          <a:prstGeom prst="roundRect">
            <a:avLst>
              <a:gd name="adj" fmla="val 16129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577840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5577840" y="46451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or paid feeds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7187184" y="4315968"/>
            <a:ext cx="1609344" cy="566928"/>
          </a:xfrm>
          <a:prstGeom prst="roundRect">
            <a:avLst>
              <a:gd name="adj" fmla="val 16129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296912" y="4343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296912" y="46451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of 49 packages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pple-light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766560" y="-1371600"/>
            <a:ext cx="3474720" cy="3474720"/>
          </a:xfrm>
          <a:prstGeom prst="rect">
            <a:avLst/>
          </a:prstGeom>
        </p:spPr>
      </p:pic>
      <p:pic>
        <p:nvPicPr>
          <p:cNvPr id="3" name="Image 1" descr="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91440"/>
            <a:ext cx="832104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10896" y="256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CLI TODAY · CI GATE TOMORROW</a:t>
            </a:r>
            <a:endParaRPr lang="en-US" sz="850" dirty="0"/>
          </a:p>
        </p:txBody>
      </p:sp>
      <p:sp>
        <p:nvSpPr>
          <p:cNvPr id="5" name="Text 1"/>
          <p:cNvSpPr txBox="1"/>
          <p:nvPr/>
        </p:nvSpPr>
        <p:spPr>
          <a:xfrm>
            <a:off x="310896" y="448056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51C7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Business Strategy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310896" y="4956048"/>
            <a:ext cx="8522208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10896" y="498348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SPECTRA  ·  RIPPLEGUARD  ·  MANIPAL HACKATHON 2026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4983480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74920" y="1051560"/>
            <a:ext cx="3749040" cy="3794760"/>
          </a:xfrm>
          <a:prstGeom prst="roundRect">
            <a:avLst>
              <a:gd name="adj" fmla="val 2439"/>
            </a:avLst>
          </a:prstGeom>
          <a:solidFill>
            <a:srgbClr val="F4F1FB"/>
          </a:solidFill>
          <a:ln w="9525">
            <a:solidFill>
              <a:srgbClr val="D9D3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10896" y="1124712"/>
            <a:ext cx="365760" cy="365760"/>
          </a:xfrm>
          <a:prstGeom prst="ellipse">
            <a:avLst/>
          </a:prstGeom>
          <a:solidFill>
            <a:srgbClr val="351C75"/>
          </a:solidFill>
          <a:ln w="12700">
            <a:solidFill>
              <a:srgbClr val="351C7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21615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9808" y="1143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828800" y="1161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single-project dashboard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1828800" y="1527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engine · open source core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10896" y="1764792"/>
            <a:ext cx="438912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10896" y="1837944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929384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9808" y="1856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828800" y="1874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SaaS · scan history · Slack alerts · GitHub Action CI gate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1828800" y="22402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 into every pipeline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310896" y="2478024"/>
            <a:ext cx="4389120" cy="0"/>
          </a:xfrm>
          <a:prstGeom prst="line">
            <a:avLst/>
          </a:prstGeom>
          <a:noFill/>
          <a:ln w="9525">
            <a:solidFill>
              <a:srgbClr val="D9D3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10896" y="2551176"/>
            <a:ext cx="365760" cy="365760"/>
          </a:xfrm>
          <a:prstGeom prst="ellipse">
            <a:avLst/>
          </a:prstGeom>
          <a:solidFill>
            <a:srgbClr val="351C75"/>
          </a:solidFill>
          <a:ln w="12700">
            <a:solidFill>
              <a:srgbClr val="351C7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64261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" y="25694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828800" y="2587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import · org-wide graph · SSO · on-prem</a:t>
            </a:r>
            <a:endParaRPr lang="en-US" sz="950" dirty="0"/>
          </a:p>
        </p:txBody>
      </p:sp>
      <p:sp>
        <p:nvSpPr>
          <p:cNvPr id="26" name="Text 19"/>
          <p:cNvSpPr txBox="1"/>
          <p:nvPr/>
        </p:nvSpPr>
        <p:spPr>
          <a:xfrm>
            <a:off x="1828800" y="29535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revenue is</a:t>
            </a:r>
            <a:endParaRPr lang="en-US" sz="800" dirty="0"/>
          </a:p>
        </p:txBody>
      </p:sp>
      <p:sp>
        <p:nvSpPr>
          <p:cNvPr id="27" name="Text 20"/>
          <p:cNvSpPr txBox="1"/>
          <p:nvPr/>
        </p:nvSpPr>
        <p:spPr>
          <a:xfrm>
            <a:off x="310896" y="3310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310896" y="34930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teams shipping JS/TS · DevSecOps &amp; AppSec in mid-to-large enterprises · OSS maintainers protecting their downstream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310896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402336" y="4242816"/>
            <a:ext cx="4023360" cy="0"/>
          </a:xfrm>
          <a:prstGeom prst="line">
            <a:avLst/>
          </a:prstGeom>
          <a:noFill/>
          <a:ln w="19050">
            <a:solidFill>
              <a:srgbClr val="D9D3E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8328" y="4178808"/>
            <a:ext cx="128016" cy="128016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310896" y="43342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310896" y="44988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· live watch · ripple sim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1435608" y="4178808"/>
            <a:ext cx="128016" cy="12801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1408176" y="43342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mo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408176" y="44988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 · PyPI · Maven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2532888" y="4178808"/>
            <a:ext cx="128016" cy="12801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2505456" y="43342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mo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2505456" y="44988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CycloneDX SBOM · multi-repo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3630168" y="4178808"/>
            <a:ext cx="128016" cy="12801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3602736" y="43342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 mo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3602736" y="44988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 · on-prem</a:t>
            </a:r>
            <a:endParaRPr lang="en-US" sz="750" dirty="0"/>
          </a:p>
        </p:txBody>
      </p:sp>
      <p:sp>
        <p:nvSpPr>
          <p:cNvPr id="43" name="Text 36"/>
          <p:cNvSpPr txBox="1"/>
          <p:nvPr/>
        </p:nvSpPr>
        <p:spPr>
          <a:xfrm>
            <a:off x="5303520" y="1170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SEE IT LIVE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303520" y="1444752"/>
            <a:ext cx="1005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45" name="Image 5" descr="qr-gith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490472"/>
            <a:ext cx="914400" cy="914400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6446520" y="173736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1824228"/>
            <a:ext cx="173736" cy="173736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690372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49" name="Text 40"/>
          <p:cNvSpPr txBox="1"/>
          <p:nvPr/>
        </p:nvSpPr>
        <p:spPr>
          <a:xfrm>
            <a:off x="6903720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github.com/Rohit-girish-Belagali/Spectra</a:t>
            </a:r>
            <a:endParaRPr lang="en-US" sz="750" dirty="0"/>
          </a:p>
        </p:txBody>
      </p:sp>
      <p:sp>
        <p:nvSpPr>
          <p:cNvPr id="50" name="Shape 41"/>
          <p:cNvSpPr/>
          <p:nvPr/>
        </p:nvSpPr>
        <p:spPr>
          <a:xfrm>
            <a:off x="5303520" y="2578608"/>
            <a:ext cx="1005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51" name="Image 7" descr="qr-li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2624328"/>
            <a:ext cx="914400" cy="914400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6446520" y="287121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3388" y="2958084"/>
            <a:ext cx="173736" cy="173736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90372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6903720" y="3072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spectra.rohitgb.info</a:t>
            </a:r>
            <a:endParaRPr lang="en-US" sz="750" dirty="0"/>
          </a:p>
        </p:txBody>
      </p:sp>
      <p:sp>
        <p:nvSpPr>
          <p:cNvPr id="56" name="Shape 45"/>
          <p:cNvSpPr/>
          <p:nvPr/>
        </p:nvSpPr>
        <p:spPr>
          <a:xfrm>
            <a:off x="5303520" y="3712464"/>
            <a:ext cx="10058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A"/>
            </a:solidFill>
            <a:prstDash val="solid"/>
          </a:ln>
        </p:spPr>
      </p:sp>
      <p:pic>
        <p:nvPicPr>
          <p:cNvPr id="57" name="Image 9" descr="qr-vide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9240" y="3758184"/>
            <a:ext cx="914400" cy="914400"/>
          </a:xfrm>
          <a:prstGeom prst="rect">
            <a:avLst/>
          </a:prstGeom>
        </p:spPr>
      </p:pic>
      <p:sp>
        <p:nvSpPr>
          <p:cNvPr id="58" name="Shape 46"/>
          <p:cNvSpPr/>
          <p:nvPr/>
        </p:nvSpPr>
        <p:spPr>
          <a:xfrm>
            <a:off x="6446520" y="40050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3388" y="4091940"/>
            <a:ext cx="173736" cy="173736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690372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1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690372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youtu.be/rq-swil9kwo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RippleGuard — Team Spectra — Manipal Hackathon 2026</dc:title>
  <dc:subject>PptxGenJS Presentation</dc:subject>
  <dc:creator>Team Spectra</dc:creator>
  <cp:lastModifiedBy>Team Spectra</cp:lastModifiedBy>
  <cp:revision>1</cp:revision>
  <dcterms:created xsi:type="dcterms:W3CDTF">2026-09-17T18:14:11Z</dcterms:created>
  <dcterms:modified xsi:type="dcterms:W3CDTF">2026-09-17T18:14:11Z</dcterms:modified>
</cp:coreProperties>
</file>