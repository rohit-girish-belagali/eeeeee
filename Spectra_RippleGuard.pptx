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BBF2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express 4.17.1</c:v>
                  </c:pt>
                  <c:pt idx="1">
                    <c:v>cookie 0.4.0</c:v>
                  </c:pt>
                  <c:pt idx="2">
                    <c:v>serve-static 1.14.1</c:v>
                  </c:pt>
                  <c:pt idx="3">
                    <c:v>path-to-regexp 0.1.7</c:v>
                  </c:pt>
                  <c:pt idx="4">
                    <c:v>body-parser 1.19.0</c:v>
                  </c:pt>
                  <c:pt idx="5">
                    <c:v>send 0.17.1</c:v>
                  </c:pt>
                  <c:pt idx="6">
                    <c:v>qs 6.7.0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0.56</c:v>
                </c:pt>
                <c:pt idx="1">
                  <c:v>0.63</c:v>
                </c:pt>
                <c:pt idx="2">
                  <c:v>0.64</c:v>
                </c:pt>
                <c:pt idx="3">
                  <c:v>0.64</c:v>
                </c:pt>
                <c:pt idx="4">
                  <c:v>0.64</c:v>
                </c:pt>
                <c:pt idx="5">
                  <c:v>0.71</c:v>
                </c:pt>
                <c:pt idx="6">
                  <c:v>0.76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F5F3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blast</c:v>
                </c:pt>
              </c:strCache>
            </c:strRef>
          </c:tx>
          <c:spPr>
            <a:solidFill>
              <a:srgbClr val="FB718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B71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Baseline</c:v>
                  </c:pt>
                  <c:pt idx="1">
                    <c:v>Block body-parser</c:v>
                  </c:pt>
                  <c:pt idx="2">
                    <c:v>Block express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60.4</c:v>
                </c:pt>
                <c:pt idx="1">
                  <c:v>56.6</c:v>
                </c:pt>
                <c:pt idx="2">
                  <c:v>27.1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F5F3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ipple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5212080" y="91440"/>
            <a:ext cx="4937760" cy="4937760"/>
          </a:xfrm>
          <a:prstGeom prst="rect">
            <a:avLst/>
          </a:prstGeom>
        </p:spPr>
      </p:pic>
      <p:pic>
        <p:nvPicPr>
          <p:cNvPr id="3" name="Image 1" descr="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960120" cy="70408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554480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MANIPAL HACKATHON 2026</a:t>
            </a:r>
            <a:endParaRPr lang="en-US" sz="1200" dirty="0"/>
          </a:p>
        </p:txBody>
      </p:sp>
      <p:sp>
        <p:nvSpPr>
          <p:cNvPr id="5" name="Text 1"/>
          <p:cNvSpPr txBox="1"/>
          <p:nvPr/>
        </p:nvSpPr>
        <p:spPr>
          <a:xfrm>
            <a:off x="1554480" y="658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  ·  PROBLEM STATEMENT P04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2344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RippleGuard</a:t>
            </a:r>
            <a:endParaRPr lang="en-US" sz="5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084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 ripple before it hits production.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6517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2240280" y="2651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2999232"/>
            <a:ext cx="603504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305409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2240280" y="30540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Cybersecurity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401568"/>
            <a:ext cx="603504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57200" y="34564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2240280" y="345643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P04 · Open Source Supply Chains: The Ripple Effect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803904"/>
            <a:ext cx="603504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57200" y="38587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TITLE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2240280" y="38587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RippleGuard — explainable dependency risk &amp; ripple simulation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" y="4206240"/>
            <a:ext cx="603504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426110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2240280" y="426110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Rohit Girish Belagali · Thambichetty Shashank · M Harshavardan · Tejasvi M H · Varsha K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720840" y="4617720"/>
            <a:ext cx="1965960" cy="292608"/>
          </a:xfrm>
          <a:prstGeom prst="roundRect">
            <a:avLst>
              <a:gd name="adj" fmla="val 50000"/>
            </a:avLst>
          </a:prstGeom>
          <a:solidFill>
            <a:srgbClr val="120C24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93992" y="46634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6793992" y="4663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7059168" y="46177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9 · Industry &amp; Infrastructure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dependency tree is now the attack surface.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766560" y="4800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  ·  02 / 07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430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454,600</a:t>
            </a:r>
            <a:endParaRPr lang="en-US" sz="6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848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malicious open-source packages catalogued in 2025 alone — a 75% jump year on year. 99% of them live on npm.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0604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Sonatype · State of the Software Supply Chain 2026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2926080"/>
            <a:ext cx="448056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$4.91M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520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cost of one supply-chain compromise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0050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2025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201168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267 days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2011680" y="3520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identify and contain — the longest of any breach vector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2011680" y="40050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2025</a:t>
            </a:r>
            <a:endParaRPr lang="en-US" sz="750" dirty="0"/>
          </a:p>
        </p:txBody>
      </p:sp>
      <p:sp>
        <p:nvSpPr>
          <p:cNvPr id="16" name="Text 13"/>
          <p:cNvSpPr txBox="1"/>
          <p:nvPr/>
        </p:nvSpPr>
        <p:spPr>
          <a:xfrm>
            <a:off x="356616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3566160" y="352044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transitive packages pulled in by the average npm install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3566160" y="40050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Zimmermann et al.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57200" y="4315968"/>
            <a:ext cx="448056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3891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Shai-Hulud, Sep 2025: </a:t>
            </a:r>
            <a:pPr indent="0" marL="0">
              <a:buNone/>
            </a:pPr>
            <a:r>
              <a:rPr lang="en-US" sz="95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self-replicating npm worm — it spread package to package through the same dependency edges nobody was watching.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5394960" y="1188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SCANNERS MISS IT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5394960" y="1481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5989320" y="14996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score packages one at a time.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989320" y="17739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CVSS number says how bad a bug is — never how much of your app sits on top of that package.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394960" y="2441448"/>
            <a:ext cx="329184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394960" y="25786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27" name="Text 24"/>
          <p:cNvSpPr txBox="1"/>
          <p:nvPr/>
        </p:nvSpPr>
        <p:spPr>
          <a:xfrm>
            <a:off x="5989320" y="259689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can't show the path.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989320" y="287121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apps get hit, through which chain, in what order? The graph is never modelled, so the question is never answered.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394960" y="3538728"/>
            <a:ext cx="329184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394960" y="3675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5989320" y="369417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hide the reasoning.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989320" y="396849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opaque score that blocks a build gets disabled by lunchtime. No reasons, no trust, no adoption.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the graph. Then ask “what if?”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766560" y="4800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  ·  03 / 07</a:t>
            </a:r>
            <a:endParaRPr lang="en-US" sz="800" dirty="0"/>
          </a:p>
        </p:txBody>
      </p:sp>
      <p:pic>
        <p:nvPicPr>
          <p:cNvPr id="6" name="Image 1" descr="grap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51560"/>
            <a:ext cx="512064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68172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fixtures/demo-project · 49 packages · real RippleGuard scores · red edges = critical path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5669280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126480" y="11430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126480" y="14447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package-lock.json → full graph with reverse “dependents” edges. Blast radius of any node is one traversal away.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5669280" y="1993392"/>
            <a:ext cx="301752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669280" y="2066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6126480" y="20391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126480" y="23408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explainable factors — exposure, compromise signal, blast radius, evidence confidence — fed by live OSV.dev, EPSS and CVSS 3.1 data.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669280" y="2889504"/>
            <a:ext cx="301752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5669280" y="29626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6126480" y="29352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126480" y="32369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Time-step ripple from any package to the production root. Quarantine a node and get the before/after blast radius instantly.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0" y="3785616"/>
            <a:ext cx="301752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669280" y="3858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6126480" y="38313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6126480" y="413308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ships with plain-English reasons. Developers see why, so they fix instead of bypass.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ENGINE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score is a sentence, not just a number.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766560" y="4800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  ·  04 / 07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97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CVSS × EPSS ×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reachability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2240280" y="1097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1097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260604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+ drift ×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mutability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1097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1097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75488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downstream reach ×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centrality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1097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10972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903720" y="14630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penalty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thin evidence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1965960"/>
            <a:ext cx="822960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" y="21031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RISK · demo-project · 7 PKGS · 14 CVEs</a:t>
            </a:r>
            <a:endParaRPr lang="en-US" sz="8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286000"/>
          <a:ext cx="44805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0" name="Text 16"/>
          <p:cNvSpPr txBox="1"/>
          <p:nvPr/>
        </p:nvSpPr>
        <p:spPr>
          <a:xfrm>
            <a:off x="5394960" y="21031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SCORE?  ·  qs@6.7.0  ·  0.76 HIGH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394960" y="2377440"/>
            <a:ext cx="3291840" cy="2331720"/>
          </a:xfrm>
          <a:prstGeom prst="rect">
            <a:avLst/>
          </a:prstGeom>
          <a:solidFill>
            <a:srgbClr val="120C24">
              <a:alpha val="80000"/>
            </a:srgbClr>
          </a:solidFill>
          <a:ln w="9525">
            <a:solidFill>
              <a:srgbClr val="2E2554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532120" y="248716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›"/>
            </a:pPr>
            <a:r>
              <a:rPr lang="en-US" sz="90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advisories incl. CVE-2026-82417, CVE-2025-15284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›"/>
            </a:pPr>
            <a:r>
              <a:rPr lang="en-US" sz="90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vulnerability exposure is moderate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›"/>
            </a:pPr>
            <a:r>
              <a:rPr lang="en-US" sz="90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 has 3 downstream dependents in this project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›"/>
            </a:pPr>
            <a:r>
              <a:rPr lang="en-US" sz="90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Dependency is transitive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›"/>
            </a:pPr>
            <a:r>
              <a:rPr lang="en-US" sz="90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reaches a production application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›"/>
            </a:pPr>
            <a:r>
              <a:rPr lang="en-US" sz="90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Sits at a central topological junction in the dependency graph</a:t>
            </a:r>
            <a:endParaRPr lang="en-US" sz="900" dirty="0"/>
          </a:p>
          <a:p>
            <a:pPr marL="342900" indent="-342900">
              <a:spcAft>
                <a:spcPts val="500"/>
              </a:spcAft>
              <a:buSzPct val="100000"/>
              <a:buChar char="›"/>
            </a:pPr>
            <a:r>
              <a:rPr lang="en-US" sz="900" dirty="0">
                <a:solidFill>
                  <a:srgbClr val="D8B4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 confidence is high (0.95)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394960" y="47274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output of  node src/index.js --once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RIPPLE SIMULATION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the blast. Cut the edge that matters.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766560" y="4800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  ·  05 / 07</a:t>
            </a:r>
            <a:endParaRPr lang="en-US" sz="800" dirty="0"/>
          </a:p>
        </p:txBody>
      </p:sp>
      <p:pic>
        <p:nvPicPr>
          <p:cNvPr id="6" name="Image 1" descr="pa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029200" cy="25511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blast radius  </a:t>
            </a:r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60.4%</a:t>
            </a:r>
            <a:pPr indent="0" marL="0">
              <a:buNone/>
            </a:pPr>
            <a:r>
              <a:rPr lang="en-US" sz="110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critical path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 → express → demo-project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57200" y="4069080"/>
            <a:ext cx="493776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7200" y="41605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packages, identical CVSS-class findings, one decision: which do you quarantine? RippleGuard ranks mitigations by how much blast radius they remove — not by severity alone.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1143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 AFTER QUARANTINE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577840" y="1371600"/>
          <a:ext cx="310896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66928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−6.3%</a:t>
            </a:r>
            <a:endParaRPr lang="en-US" sz="2600" dirty="0"/>
          </a:p>
        </p:txBody>
      </p:sp>
      <p:sp>
        <p:nvSpPr>
          <p:cNvPr id="13" name="Text 8"/>
          <p:cNvSpPr txBox="1"/>
          <p:nvPr/>
        </p:nvSpPr>
        <p:spPr>
          <a:xfrm>
            <a:off x="566928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body-parser —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 still reaches the app via express</a:t>
            </a:r>
            <a:endParaRPr lang="en-US" sz="800" dirty="0"/>
          </a:p>
        </p:txBody>
      </p:sp>
      <p:sp>
        <p:nvSpPr>
          <p:cNvPr id="14" name="Text 9"/>
          <p:cNvSpPr txBox="1"/>
          <p:nvPr/>
        </p:nvSpPr>
        <p:spPr>
          <a:xfrm>
            <a:off x="726948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−55.1%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7269480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express —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app no longer reached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IMPLEMENTATION &amp; FEASIBILITY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tested, and running end to end.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766560" y="4800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  ·  06 / 07</a:t>
            </a:r>
            <a:endParaRPr lang="en-US" sz="800" dirty="0"/>
          </a:p>
        </p:txBody>
      </p:sp>
      <p:pic>
        <p:nvPicPr>
          <p:cNvPr id="6" name="Image 1" descr="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8412480" cy="243230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3611880"/>
            <a:ext cx="822960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57200" y="3703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(engine · simulation · API)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2121408" y="3703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~3.7k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2121408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React</a:t>
            </a:r>
            <a:endParaRPr lang="en-US" sz="850" dirty="0"/>
          </a:p>
        </p:txBody>
      </p:sp>
      <p:sp>
        <p:nvSpPr>
          <p:cNvPr id="12" name="Text 8"/>
          <p:cNvSpPr txBox="1"/>
          <p:nvPr/>
        </p:nvSpPr>
        <p:spPr>
          <a:xfrm>
            <a:off x="3785616" y="3703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3785616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SSE event stream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5449824" y="3703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5449824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or paid feeds —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OSV.dev &amp; FIRST EPSS are free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7114032" y="37033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</a:t>
            </a:r>
            <a:endParaRPr 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7114032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+ score 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packages, lookups cached</a:t>
            </a:r>
            <a:endParaRPr lang="en-US" sz="8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scanProject() powers the CLI, the API and the watcher — no divergent scoring logic. Hosted mode accepts an uploaded package-lock.json, so it works where the server has no disk access.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01168"/>
            <a:ext cx="777240" cy="566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274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STRATEGY · TRY IT NOW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502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CLI today. CI gate tomorrow.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6766560" y="48006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  ·  07 / 07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207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+ single-project dashboard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15727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engine · open source core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429768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737360" y="19385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per-seat SaaS · scan history · Slack alerts · GitHub Action CI gate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1737360" y="23042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wedge into every pipeline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7200" y="2542032"/>
            <a:ext cx="4297680" cy="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2651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737360" y="267004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F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SBOM import · org-wide graph · SSO · on-prem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737360" y="30358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6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revenue is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5844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teams shipping JS/TS · DevSecOps &amp; AppSec in mid-to-large enterprises · OSS maintainers protecting their downstream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005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8640" y="4315968"/>
            <a:ext cx="4023360" cy="0"/>
          </a:xfrm>
          <a:prstGeom prst="line">
            <a:avLst/>
          </a:prstGeom>
          <a:noFill/>
          <a:ln w="19050">
            <a:solidFill>
              <a:srgbClr val="2E255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4632" y="4251960"/>
            <a:ext cx="128016" cy="128016"/>
          </a:xfrm>
          <a:prstGeom prst="ellipse">
            <a:avLst/>
          </a:prstGeom>
          <a:solidFill>
            <a:srgbClr val="F97316"/>
          </a:solidFill>
          <a:ln w="19050">
            <a:solidFill>
              <a:srgbClr val="0A071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7200" y="44074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572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· live watch · ripple sim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1581912" y="4251960"/>
            <a:ext cx="128016" cy="128016"/>
          </a:xfrm>
          <a:prstGeom prst="ellipse">
            <a:avLst/>
          </a:prstGeom>
          <a:solidFill>
            <a:srgbClr val="A855F7"/>
          </a:solidFill>
          <a:ln w="19050">
            <a:solidFill>
              <a:srgbClr val="0A071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554480" y="44074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 mo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554480" y="4572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 · PyPI · Maven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2679192" y="4251960"/>
            <a:ext cx="128016" cy="128016"/>
          </a:xfrm>
          <a:prstGeom prst="ellipse">
            <a:avLst/>
          </a:prstGeom>
          <a:solidFill>
            <a:srgbClr val="A855F7"/>
          </a:solidFill>
          <a:ln w="19050">
            <a:solidFill>
              <a:srgbClr val="0A071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651760" y="44074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 mo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2651760" y="4572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CycloneDX SBOM · multi-repo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3776472" y="4251960"/>
            <a:ext cx="128016" cy="128016"/>
          </a:xfrm>
          <a:prstGeom prst="ellipse">
            <a:avLst/>
          </a:prstGeom>
          <a:solidFill>
            <a:srgbClr val="A855F7"/>
          </a:solidFill>
          <a:ln w="19050">
            <a:solidFill>
              <a:srgbClr val="0A0714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749040" y="440740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 mo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3749040" y="4572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9F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 · on-prem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120640" y="1188720"/>
            <a:ext cx="0" cy="3566160"/>
          </a:xfrm>
          <a:prstGeom prst="line">
            <a:avLst/>
          </a:prstGeom>
          <a:noFill/>
          <a:ln w="9525">
            <a:solidFill>
              <a:srgbClr val="2E255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394960" y="1188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SEE IT LIVE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394960" y="1481328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6" name="Image 1" descr="qr-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527048"/>
            <a:ext cx="868680" cy="86868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6537960" y="1737360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828800"/>
            <a:ext cx="182880" cy="182880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7040880" y="168249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7040880" y="19568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9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github.com/Rohit-girish-Belagali/Spectra</a:t>
            </a:r>
            <a:endParaRPr lang="en-US" sz="750" dirty="0"/>
          </a:p>
        </p:txBody>
      </p:sp>
      <p:sp>
        <p:nvSpPr>
          <p:cNvPr id="41" name="Shape 36"/>
          <p:cNvSpPr/>
          <p:nvPr/>
        </p:nvSpPr>
        <p:spPr>
          <a:xfrm>
            <a:off x="5394960" y="2596896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2" name="Image 3" descr="qr-li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642616"/>
            <a:ext cx="868680" cy="868680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6537960" y="2852928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944368"/>
            <a:ext cx="182880" cy="182880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7040880" y="27980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7040880" y="30723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9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spectra-rippleguard.vercel.app</a:t>
            </a:r>
            <a:endParaRPr lang="en-US" sz="750" dirty="0"/>
          </a:p>
        </p:txBody>
      </p:sp>
      <p:sp>
        <p:nvSpPr>
          <p:cNvPr id="47" name="Shape 40"/>
          <p:cNvSpPr/>
          <p:nvPr/>
        </p:nvSpPr>
        <p:spPr>
          <a:xfrm>
            <a:off x="5394960" y="3712464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8" name="Image 5" descr="qr-vide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758184"/>
            <a:ext cx="868680" cy="868680"/>
          </a:xfrm>
          <a:prstGeom prst="rect">
            <a:avLst/>
          </a:prstGeom>
        </p:spPr>
      </p:pic>
      <p:sp>
        <p:nvSpPr>
          <p:cNvPr id="49" name="Shape 41"/>
          <p:cNvSpPr/>
          <p:nvPr/>
        </p:nvSpPr>
        <p:spPr>
          <a:xfrm>
            <a:off x="6537960" y="3968496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9400" y="4059936"/>
            <a:ext cx="182880" cy="18288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7040880" y="39136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</a:t>
            </a:r>
            <a:endParaRPr lang="en-US" sz="1300" dirty="0"/>
          </a:p>
        </p:txBody>
      </p:sp>
      <p:sp>
        <p:nvSpPr>
          <p:cNvPr id="52" name="Text 43"/>
          <p:cNvSpPr txBox="1"/>
          <p:nvPr/>
        </p:nvSpPr>
        <p:spPr>
          <a:xfrm>
            <a:off x="7040880" y="41879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79F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youtu.be/REPLACE_ME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RippleGuard — Team Spectra — Manipal Hackathon 2026</dc:title>
  <dc:subject>PptxGenJS Presentation</dc:subject>
  <dc:creator>Team Spectra</dc:creator>
  <cp:lastModifiedBy>Team Spectra</cp:lastModifiedBy>
  <cp:revision>1</cp:revision>
  <dcterms:created xsi:type="dcterms:W3CDTF">2026-09-17T15:55:43Z</dcterms:created>
  <dcterms:modified xsi:type="dcterms:W3CDTF">2026-09-17T15:55:43Z</dcterms:modified>
</cp:coreProperties>
</file>