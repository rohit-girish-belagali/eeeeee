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11D4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1D48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express</c:v>
                  </c:pt>
                  <c:pt idx="1">
                    <c:v>cookie</c:v>
                  </c:pt>
                  <c:pt idx="2">
                    <c:v>serve-static</c:v>
                  </c:pt>
                  <c:pt idx="3">
                    <c:v>path-to-regexp</c:v>
                  </c:pt>
                  <c:pt idx="4">
                    <c:v>body-parser</c:v>
                  </c:pt>
                  <c:pt idx="5">
                    <c:v>send</c:v>
                  </c:pt>
                  <c:pt idx="6">
                    <c:v>qs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</c:v>
                </c:pt>
                <c:pt idx="1">
                  <c:v>0.63</c:v>
                </c:pt>
                <c:pt idx="2">
                  <c:v>0.64</c:v>
                </c:pt>
                <c:pt idx="3">
                  <c:v>0.64</c:v>
                </c:pt>
                <c:pt idx="4">
                  <c:v>0.64</c:v>
                </c:pt>
                <c:pt idx="5">
                  <c:v>0.71</c:v>
                </c:pt>
                <c:pt idx="6">
                  <c:v>0.76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00" u="none">
                  <a:solidFill>
                    <a:srgbClr val="1F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F1B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7C3AED"/>
                </a:solidFill>
                <a:latin typeface="Arial"/>
              </a:defRPr>
            </a:pPr>
            <a:r>
              <a:rPr sz="900" b="0" i="0" u="none" strike="noStrike">
                <a:solidFill>
                  <a:srgbClr val="7C3AED"/>
                </a:solidFill>
                <a:latin typeface="Arial"/>
              </a:rPr>
              <a:t>Blast radius after quarantine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blast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11D4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</c:v>
                  </c:pt>
                  <c:pt idx="1">
                    <c:v>Block body-parser</c:v>
                  </c:pt>
                  <c:pt idx="2">
                    <c:v>Block express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60.4</c:v>
                </c:pt>
                <c:pt idx="1">
                  <c:v>56.6</c:v>
                </c:pt>
                <c:pt idx="2">
                  <c:v>27.1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F1B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70432" y="365760"/>
            <a:ext cx="679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0124D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Manipal Hackathon 2026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1371600"/>
            <a:ext cx="8412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1B2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Team Name: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1B2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Track: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Cybersecurity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1B2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Problem Statement: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P04 · Open Source Supply Chains: The Ripple Effect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1B2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Solution Title: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RippleGuard — explainable dependency risk &amp; ripple simulation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1B2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Team Members: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Girish Belagali · Thambichetty Shashank · M Harshavardan · Tejasvi M H · Varsha K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5760" y="452628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4F1F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38912" y="45720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8912" y="45720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526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9 · Industry, Innovation &amp; Infrastructure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0896" y="448056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1C75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Problem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10896" y="10972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454,600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310896" y="1965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malicious open-source packages catalogued in 2025 — up 75% year on year. 99% of them live on npm.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10896" y="248716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Sonatype · State of the Software Supply Chain 2026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0896" y="2788920"/>
            <a:ext cx="44805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" y="29077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$4.91M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310896" y="3364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cost of one supply-chain compromise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310896" y="3840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2025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1865376" y="29077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 days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865376" y="3364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identify and contain — the longest of any breach vector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865376" y="3840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2025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3419856" y="29077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3419856" y="3364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transitive packages pulled in by the average npm install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3419856" y="38404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Zimmermann et al.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10896" y="4114800"/>
            <a:ext cx="44805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896" y="41879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Shai-Hulud, Sep 2025: </a:t>
            </a:r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self-replicating npm worm spread package to package through the same dependency edges nobody was watching.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212080" y="11430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TODAY'S SCANNERS MISS IT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212080" y="1463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14813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score packages one at a time.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806440" y="175564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CVSS number says how bad a bug is — never how much of your app sits on top of that package.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212080" y="2395728"/>
            <a:ext cx="35661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1208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25328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can't show the path.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806440" y="280720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get hit, through which chain, in what order? The graph is never modelled.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212080" y="3447288"/>
            <a:ext cx="35661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212080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5806440" y="3584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hide the reasoning.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806440" y="38587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opaque score that blocks a build gets disabled by lunchtime. No reasons, no trust.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0896" y="448056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1C75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Solution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10896" y="102412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RippleGuard models the ecosystem as a graph, scores every package with reasons, and simulates how a compromise ripples to production.</a:t>
            </a:r>
            <a:endParaRPr lang="en-US" sz="1150" dirty="0"/>
          </a:p>
        </p:txBody>
      </p:sp>
      <p:pic>
        <p:nvPicPr>
          <p:cNvPr id="5" name="Image 1" descr="graph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4663440" cy="33284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10896" y="475488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fixtures/demo-project · 49 packages · real RippleGuard scores · red = critical path</a:t>
            </a:r>
            <a:endParaRPr lang="en-US" sz="750" dirty="0"/>
          </a:p>
        </p:txBody>
      </p:sp>
      <p:sp>
        <p:nvSpPr>
          <p:cNvPr id="7" name="Text 3"/>
          <p:cNvSpPr txBox="1"/>
          <p:nvPr/>
        </p:nvSpPr>
        <p:spPr>
          <a:xfrm>
            <a:off x="5212080" y="14904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62356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package-lock.json → full graph with reverse “dependents” edges. Blast radius of any node is one traversal away.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212080" y="2240280"/>
            <a:ext cx="35661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212080" y="23134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2286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25786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explainable factors — exposure, compromise signal, blast radius, evidence confidence — fed by live OSV.dev, EPSS and CVSS 3.1 data.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212080" y="3063240"/>
            <a:ext cx="35661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12080" y="31363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623560" y="3108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623560" y="34015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Time-step ripple from any package to the production root. Quarantine a node and get the before/after blast radius instantly.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212080" y="3886200"/>
            <a:ext cx="356616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12080" y="39593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623560" y="39319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5623560" y="422452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ships with plain-English reasons, so developers fix instead of bypass.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0896" y="448056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1C75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Technical Implementation</a:t>
            </a:r>
            <a:endParaRPr lang="en-US" sz="2800" dirty="0"/>
          </a:p>
        </p:txBody>
      </p:sp>
      <p:pic>
        <p:nvPicPr>
          <p:cNvPr id="4" name="Image 1" descr="arch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503920" cy="198424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10896" y="31546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310896" y="34472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CVSS × EPSS × reachability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2093976" y="3154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414016" y="31546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414016" y="34472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+ drift × mutability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197096" y="3154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517136" y="31546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34472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reach × centrality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6300216" y="3154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620256" y="31546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20256" y="34472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on thin evidence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" y="36758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1 − e^(−risk)  ·  stays in 0–1, no hard clamp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10896" y="3950208"/>
            <a:ext cx="850392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graphicFrame>
        <p:nvGraphicFramePr>
          <p:cNvPr id="18" name="Chart 0" descr=""/>
          <p:cNvGraphicFramePr/>
          <p:nvPr/>
        </p:nvGraphicFramePr>
        <p:xfrm>
          <a:off x="274320" y="3977640"/>
          <a:ext cx="4206240" cy="1051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4754880" y="4023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SCORE?  ·  qs@6.7.0  ·  0.76 HIGH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0" y="42245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›"/>
            </a:pPr>
            <a:r>
              <a:rPr lang="en-US" sz="800" dirty="0">
                <a:solidFill>
                  <a:srgbClr val="1F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advisories incl. CVE-2026-82417, CVE-2025-15284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›"/>
            </a:pPr>
            <a:r>
              <a:rPr lang="en-US" sz="800" dirty="0">
                <a:solidFill>
                  <a:srgbClr val="1F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downstream dependents · transitive · reaches production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›"/>
            </a:pPr>
            <a:r>
              <a:rPr lang="en-US" sz="800" dirty="0">
                <a:solidFill>
                  <a:srgbClr val="1F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Sits at a central topological junction in the graph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›"/>
            </a:pPr>
            <a:r>
              <a:rPr lang="en-US" sz="800" dirty="0">
                <a:solidFill>
                  <a:srgbClr val="1F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confidence is high (0.95)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0896" y="448056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1C75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Feasibility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10896" y="10241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tested and running end to end — the numbers below are live output from the tool.</a:t>
            </a:r>
            <a:endParaRPr lang="en-US" sz="1150" dirty="0"/>
          </a:p>
        </p:txBody>
      </p:sp>
      <p:pic>
        <p:nvPicPr>
          <p:cNvPr id="5" name="Image 1" descr="path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24048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10896" y="37947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blast radius  </a:t>
            </a:r>
            <a:pPr indent="0" marL="0">
              <a:buNone/>
            </a:pPr>
            <a:r>
              <a:rPr lang="en-US" sz="1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60.4%</a:t>
            </a:r>
            <a:pPr indent="0" marL="0">
              <a:buNone/>
            </a:pPr>
            <a:r>
              <a:rPr lang="en-US" sz="100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critical path  </a:t>
            </a:r>
            <a:pPr indent="0" marL="0">
              <a:buNone/>
            </a:pPr>
            <a:r>
              <a:rPr lang="en-US" sz="10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→ express → demo-project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212080" y="1325880"/>
          <a:ext cx="35661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303520" y="3566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−6.3%</a:t>
            </a:r>
            <a:endParaRPr lang="en-US" sz="2200" dirty="0"/>
          </a:p>
        </p:txBody>
      </p:sp>
      <p:sp>
        <p:nvSpPr>
          <p:cNvPr id="9" name="Text 4"/>
          <p:cNvSpPr txBox="1"/>
          <p:nvPr/>
        </p:nvSpPr>
        <p:spPr>
          <a:xfrm>
            <a:off x="530352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body-parser: qs still reaches the app via express</a:t>
            </a:r>
            <a:endParaRPr lang="en-US" sz="750" dirty="0"/>
          </a:p>
        </p:txBody>
      </p:sp>
      <p:sp>
        <p:nvSpPr>
          <p:cNvPr id="10" name="Text 5"/>
          <p:cNvSpPr txBox="1"/>
          <p:nvPr/>
        </p:nvSpPr>
        <p:spPr>
          <a:xfrm>
            <a:off x="7132320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−55.1%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7132320" y="3931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express: production app no longer reached</a:t>
            </a:r>
            <a:endParaRPr lang="en-US" sz="750" dirty="0"/>
          </a:p>
        </p:txBody>
      </p:sp>
      <p:sp>
        <p:nvSpPr>
          <p:cNvPr id="12" name="Shape 7"/>
          <p:cNvSpPr/>
          <p:nvPr/>
        </p:nvSpPr>
        <p:spPr>
          <a:xfrm>
            <a:off x="310896" y="4315968"/>
            <a:ext cx="850392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10896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310896" y="4736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~3.7k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4736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3712464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12464" y="4736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endpoints + SSE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5413248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5413248" y="4736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or paid feeds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7114032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7114032" y="4736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of 49 packages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4" y="91440"/>
            <a:ext cx="832104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0896" y="448056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1C75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Business Strategy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10896" y="1143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60020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+ single-project dashboard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600200" y="15270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engine · open source core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10896" y="1764792"/>
            <a:ext cx="438912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" y="18562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SaaS · scan history · Slack alerts · GitHub Action CI gate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24028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 into every pipeline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10896" y="2478024"/>
            <a:ext cx="4389120" cy="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0896" y="2569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25877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SBOM import · org-wide graph · SSO · on-prem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29535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revenue is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310896" y="33101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310896" y="34930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teams shipping JS/TS · DevSecOps &amp; AppSec in mid-to-large enterprises · OSS maintainers protecting their downstream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310896" y="3931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02336" y="4242816"/>
            <a:ext cx="4023360" cy="0"/>
          </a:xfrm>
          <a:prstGeom prst="line">
            <a:avLst/>
          </a:prstGeom>
          <a:noFill/>
          <a:ln w="19050">
            <a:solidFill>
              <a:srgbClr val="D9D3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8328" y="4178808"/>
            <a:ext cx="128016" cy="128016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" y="43342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10896" y="4498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· live watch · ripple sim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1435608" y="4178808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408176" y="43342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408176" y="4498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 · PyPI · Maven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532888" y="4178808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05456" y="43342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2505456" y="4498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SBOM · multi-repo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3630168" y="4178808"/>
            <a:ext cx="128016" cy="128016"/>
          </a:xfrm>
          <a:prstGeom prst="ellipse">
            <a:avLst/>
          </a:prstGeom>
          <a:solidFill>
            <a:srgbClr val="A855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02736" y="43342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3602736" y="449884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engine · on-prem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5029200" y="1143000"/>
            <a:ext cx="0" cy="3657600"/>
          </a:xfrm>
          <a:prstGeom prst="line">
            <a:avLst/>
          </a:prstGeom>
          <a:noFill/>
          <a:ln w="9525">
            <a:solidFill>
              <a:srgbClr val="D9D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303520" y="11430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SEE IT LIVE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303520" y="1444752"/>
            <a:ext cx="1005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A"/>
            </a:solidFill>
            <a:prstDash val="solid"/>
          </a:ln>
        </p:spPr>
      </p:sp>
      <p:pic>
        <p:nvPicPr>
          <p:cNvPr id="34" name="Image 1" descr="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490472"/>
            <a:ext cx="914400" cy="9144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6492240" y="1673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649224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github.com/Rohit-girish-Belagali/Spectra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303520" y="2578608"/>
            <a:ext cx="1005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A"/>
            </a:solidFill>
            <a:prstDash val="solid"/>
          </a:ln>
        </p:spPr>
      </p:sp>
      <p:pic>
        <p:nvPicPr>
          <p:cNvPr id="38" name="Image 2" descr="qr-li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24328"/>
            <a:ext cx="914400" cy="91440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6492240" y="2807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6492240" y="30998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spectra.rohitgb.info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5303520" y="3712464"/>
            <a:ext cx="1005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EA"/>
            </a:solidFill>
            <a:prstDash val="solid"/>
          </a:ln>
        </p:spPr>
      </p:sp>
      <p:pic>
        <p:nvPicPr>
          <p:cNvPr id="42" name="Image 3" descr="qr-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758184"/>
            <a:ext cx="914400" cy="9144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492240" y="3941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1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6492240" y="4233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youtu.be/rq-swil9kwo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RippleGuard — Team Spectra — Manipal Hackathon 2026</dc:title>
  <dc:subject>PptxGenJS Presentation</dc:subject>
  <dc:creator>Team Spectra</dc:creator>
  <cp:lastModifiedBy>Team Spectra</cp:lastModifiedBy>
  <cp:revision>1</cp:revision>
  <dcterms:created xsi:type="dcterms:W3CDTF">2026-09-17T18:11:23Z</dcterms:created>
  <dcterms:modified xsi:type="dcterms:W3CDTF">2026-09-17T18:11:23Z</dcterms:modified>
</cp:coreProperties>
</file>